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24"/>
  </p:notesMasterIdLst>
  <p:handoutMasterIdLst>
    <p:handoutMasterId r:id="rId25"/>
  </p:handoutMasterIdLst>
  <p:sldIdLst>
    <p:sldId id="256" r:id="rId5"/>
    <p:sldId id="262" r:id="rId6"/>
    <p:sldId id="263" r:id="rId7"/>
    <p:sldId id="264" r:id="rId8"/>
    <p:sldId id="265" r:id="rId9"/>
    <p:sldId id="266" r:id="rId10"/>
    <p:sldId id="276" r:id="rId11"/>
    <p:sldId id="267" r:id="rId12"/>
    <p:sldId id="277" r:id="rId13"/>
    <p:sldId id="278" r:id="rId14"/>
    <p:sldId id="268" r:id="rId15"/>
    <p:sldId id="269" r:id="rId16"/>
    <p:sldId id="270" r:id="rId17"/>
    <p:sldId id="271" r:id="rId18"/>
    <p:sldId id="272" r:id="rId19"/>
    <p:sldId id="273" r:id="rId20"/>
    <p:sldId id="274" r:id="rId21"/>
    <p:sldId id="275" r:id="rId22"/>
    <p:sldId id="260" r:id="rId23"/>
  </p:sldIdLst>
  <p:sldSz cx="12192000" cy="6858000"/>
  <p:notesSz cx="6858000" cy="9144000"/>
  <p:defaultTextStyle>
    <a:defPPr rtl="0">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48" autoAdjust="0"/>
  </p:normalViewPr>
  <p:slideViewPr>
    <p:cSldViewPr snapToGrid="0">
      <p:cViewPr varScale="1">
        <p:scale>
          <a:sx n="123" d="100"/>
          <a:sy n="123" d="100"/>
        </p:scale>
        <p:origin x="114" y="126"/>
      </p:cViewPr>
      <p:guideLst/>
    </p:cSldViewPr>
  </p:slideViewPr>
  <p:notesTextViewPr>
    <p:cViewPr>
      <p:scale>
        <a:sx n="1" d="1"/>
        <a:sy n="1" d="1"/>
      </p:scale>
      <p:origin x="0" y="0"/>
    </p:cViewPr>
  </p:notesTextViewPr>
  <p:notesViewPr>
    <p:cSldViewPr snapToGrid="0">
      <p:cViewPr varScale="1">
        <p:scale>
          <a:sx n="89" d="100"/>
          <a:sy n="89" d="100"/>
        </p:scale>
        <p:origin x="378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957B284-434F-4737-87F6-3C1E78FB2C0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6C727AB7-3970-4FE4-A134-9D1EEE3EADD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0FB8E98-EB83-4166-8CDF-F8D5CC97446D}" type="datetimeFigureOut">
              <a:rPr lang="es-ES" smtClean="0"/>
              <a:t>26/02/2026</a:t>
            </a:fld>
            <a:endParaRPr lang="es-ES"/>
          </a:p>
        </p:txBody>
      </p:sp>
      <p:sp>
        <p:nvSpPr>
          <p:cNvPr id="4" name="Marcador de pie de página 3">
            <a:extLst>
              <a:ext uri="{FF2B5EF4-FFF2-40B4-BE49-F238E27FC236}">
                <a16:creationId xmlns:a16="http://schemas.microsoft.com/office/drawing/2014/main" id="{B0C17C43-A4DD-44E5-B373-511461F876E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F99C40B9-1970-4F62-BE22-5883A05E9A8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C45CBA8-3118-4264-9DB3-F09EDF8E113C}" type="slidenum">
              <a:rPr lang="es-ES" smtClean="0"/>
              <a:t>‹Nº›</a:t>
            </a:fld>
            <a:endParaRPr lang="es-ES"/>
          </a:p>
        </p:txBody>
      </p:sp>
    </p:spTree>
    <p:extLst>
      <p:ext uri="{BB962C8B-B14F-4D97-AF65-F5344CB8AC3E}">
        <p14:creationId xmlns:p14="http://schemas.microsoft.com/office/powerpoint/2010/main" val="30137989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59F1FC-52BF-40A0-B8CD-E5DB9AB207F2}" type="datetimeFigureOut">
              <a:rPr lang="es-ES" noProof="0" smtClean="0"/>
              <a:t>26/02/2026</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a:t>Editar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6CC092-CABA-48D0-B3F7-B535EA5228F9}" type="slidenum">
              <a:rPr lang="es-ES" noProof="0" smtClean="0"/>
              <a:t>‹Nº›</a:t>
            </a:fld>
            <a:endParaRPr lang="es-ES" noProof="0"/>
          </a:p>
        </p:txBody>
      </p:sp>
    </p:spTree>
    <p:extLst>
      <p:ext uri="{BB962C8B-B14F-4D97-AF65-F5344CB8AC3E}">
        <p14:creationId xmlns:p14="http://schemas.microsoft.com/office/powerpoint/2010/main" val="3533446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5B6CC092-CABA-48D0-B3F7-B535EA5228F9}" type="slidenum">
              <a:rPr lang="es-ES" smtClean="0"/>
              <a:t>1</a:t>
            </a:fld>
            <a:endParaRPr lang="es-ES"/>
          </a:p>
        </p:txBody>
      </p:sp>
    </p:spTree>
    <p:extLst>
      <p:ext uri="{BB962C8B-B14F-4D97-AF65-F5344CB8AC3E}">
        <p14:creationId xmlns:p14="http://schemas.microsoft.com/office/powerpoint/2010/main" val="1737959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5B6CC092-CABA-48D0-B3F7-B535EA5228F9}" type="slidenum">
              <a:rPr lang="es-ES" smtClean="0"/>
              <a:t>19</a:t>
            </a:fld>
            <a:endParaRPr lang="es-ES"/>
          </a:p>
        </p:txBody>
      </p:sp>
    </p:spTree>
    <p:extLst>
      <p:ext uri="{BB962C8B-B14F-4D97-AF65-F5344CB8AC3E}">
        <p14:creationId xmlns:p14="http://schemas.microsoft.com/office/powerpoint/2010/main" val="3359435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ángulo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2" name="Título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es-ES" noProof="0"/>
              <a:t>Haga clic para modificar el estilo de título del patrón</a:t>
            </a:r>
          </a:p>
        </p:txBody>
      </p:sp>
      <p:sp>
        <p:nvSpPr>
          <p:cNvPr id="3" name="Subtítulo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4" name="Marcador de posición de fecha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7F3AD093-6935-4E25-8E83-BEC3D2E3622E}" type="datetime1">
              <a:rPr lang="es-ES" noProof="0" smtClean="0"/>
              <a:t>26/02/2026</a:t>
            </a:fld>
            <a:endParaRPr lang="es-ES" noProof="0"/>
          </a:p>
        </p:txBody>
      </p:sp>
      <p:sp>
        <p:nvSpPr>
          <p:cNvPr id="5" name="Marcador de posición de pie de página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es-ES" noProof="0"/>
          </a:p>
        </p:txBody>
      </p:sp>
      <p:sp>
        <p:nvSpPr>
          <p:cNvPr id="6" name="Marcador de posición de número de diapositiva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7" name="Rectángulo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2" y="702156"/>
            <a:ext cx="11029616" cy="1013800"/>
          </a:xfrm>
        </p:spPr>
        <p:txBody>
          <a:bodyPr rtlCol="0"/>
          <a:lstStyle/>
          <a:p>
            <a:pPr rtl="0"/>
            <a:r>
              <a:rPr lang="es-ES" noProof="0"/>
              <a:t>Haga clic para modificar el estilo de título del patrón</a:t>
            </a:r>
          </a:p>
        </p:txBody>
      </p:sp>
      <p:sp>
        <p:nvSpPr>
          <p:cNvPr id="3" name="Marcador de posición de contenido 2"/>
          <p:cNvSpPr>
            <a:spLocks noGrp="1"/>
          </p:cNvSpPr>
          <p:nvPr>
            <p:ph idx="1" hasCustomPrompt="1"/>
          </p:nvPr>
        </p:nvSpPr>
        <p:spPr>
          <a:xfrm>
            <a:off x="581192" y="2180496"/>
            <a:ext cx="11029615" cy="3678303"/>
          </a:xfrm>
        </p:spPr>
        <p:txBody>
          <a:bodyPr rtlCol="0"/>
          <a:lstStyle>
            <a:lvl1pPr>
              <a:defRPr/>
            </a:lvl1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fecha 3"/>
          <p:cNvSpPr>
            <a:spLocks noGrp="1"/>
          </p:cNvSpPr>
          <p:nvPr>
            <p:ph type="dt" sz="half" idx="10"/>
          </p:nvPr>
        </p:nvSpPr>
        <p:spPr/>
        <p:txBody>
          <a:bodyPr rtlCol="0"/>
          <a:lstStyle/>
          <a:p>
            <a:pPr rtl="0"/>
            <a:fld id="{3ECF8AC2-1C52-4F78-88EE-331D670B19A5}" type="datetime1">
              <a:rPr lang="es-ES" noProof="0" smtClean="0"/>
              <a:t>26/02/2026</a:t>
            </a:fld>
            <a:endParaRPr lang="es-ES" noProof="0"/>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a:xfrm>
            <a:off x="10558300" y="5956137"/>
            <a:ext cx="1052508" cy="365125"/>
          </a:xfrm>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ángulo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es-ES" noProof="0"/>
              <a:t>Haga clic para modificar el estilo de título del patrón</a:t>
            </a:r>
          </a:p>
        </p:txBody>
      </p:sp>
      <p:sp>
        <p:nvSpPr>
          <p:cNvPr id="3" name="Marcador de posición de texto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Editar estilos de texto del patrón</a:t>
            </a:r>
          </a:p>
        </p:txBody>
      </p:sp>
      <p:sp>
        <p:nvSpPr>
          <p:cNvPr id="4" name="Marcador de posición de fecha 3"/>
          <p:cNvSpPr>
            <a:spLocks noGrp="1"/>
          </p:cNvSpPr>
          <p:nvPr>
            <p:ph type="dt" sz="half" idx="10"/>
          </p:nvPr>
        </p:nvSpPr>
        <p:spPr/>
        <p:txBody>
          <a:bodyPr rtlCol="0"/>
          <a:lstStyle>
            <a:lvl1pPr>
              <a:defRPr>
                <a:solidFill>
                  <a:schemeClr val="accent1">
                    <a:lumMod val="75000"/>
                    <a:lumOff val="25000"/>
                  </a:schemeClr>
                </a:solidFill>
              </a:defRPr>
            </a:lvl1pPr>
          </a:lstStyle>
          <a:p>
            <a:pPr rtl="0"/>
            <a:fld id="{FE6CF4E9-F423-4970-91B6-143DF72FA056}" type="datetime1">
              <a:rPr lang="es-ES" noProof="0" smtClean="0"/>
              <a:t>26/02/2026</a:t>
            </a:fld>
            <a:endParaRPr lang="es-ES" noProof="0"/>
          </a:p>
        </p:txBody>
      </p:sp>
      <p:sp>
        <p:nvSpPr>
          <p:cNvPr id="5" name="Marcador de posición de pie de página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s-ES" noProof="0"/>
          </a:p>
        </p:txBody>
      </p:sp>
      <p:sp>
        <p:nvSpPr>
          <p:cNvPr id="6" name="Marcador de posición de número de diapositiva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ángulo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posición de contenido 2"/>
          <p:cNvSpPr>
            <a:spLocks noGrp="1"/>
          </p:cNvSpPr>
          <p:nvPr>
            <p:ph sz="half" idx="1" hasCustomPrompt="1"/>
          </p:nvPr>
        </p:nvSpPr>
        <p:spPr>
          <a:xfrm>
            <a:off x="581193" y="2228003"/>
            <a:ext cx="5422390" cy="3633047"/>
          </a:xfrm>
        </p:spPr>
        <p:txBody>
          <a:bodyPr rtlCol="0">
            <a:normAutofit/>
          </a:bodyPr>
          <a:lstStyle>
            <a:lvl1pPr>
              <a:defRPr/>
            </a:lvl1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contenido 3"/>
          <p:cNvSpPr>
            <a:spLocks noGrp="1"/>
          </p:cNvSpPr>
          <p:nvPr>
            <p:ph sz="half" idx="2" hasCustomPrompt="1"/>
          </p:nvPr>
        </p:nvSpPr>
        <p:spPr>
          <a:xfrm>
            <a:off x="6188417" y="2228003"/>
            <a:ext cx="5422392" cy="3633047"/>
          </a:xfrm>
        </p:spPr>
        <p:txBody>
          <a:bodyPr rtlCol="0">
            <a:normAutofit/>
          </a:bodyPr>
          <a:lstStyle>
            <a:lvl1pPr>
              <a:defRPr/>
            </a:lvl1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osición de fecha 4"/>
          <p:cNvSpPr>
            <a:spLocks noGrp="1"/>
          </p:cNvSpPr>
          <p:nvPr>
            <p:ph type="dt" sz="half" idx="10"/>
          </p:nvPr>
        </p:nvSpPr>
        <p:spPr/>
        <p:txBody>
          <a:bodyPr rtlCol="0"/>
          <a:lstStyle/>
          <a:p>
            <a:pPr rtl="0"/>
            <a:fld id="{E3955445-6089-478A-9DA1-4738AC4A8C11}" type="datetime1">
              <a:rPr lang="es-ES" noProof="0" smtClean="0"/>
              <a:t>26/02/2026</a:t>
            </a:fld>
            <a:endParaRPr lang="es-ES" noProof="0"/>
          </a:p>
        </p:txBody>
      </p:sp>
      <p:sp>
        <p:nvSpPr>
          <p:cNvPr id="6" name="Marcador de posición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ángulo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1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posición de texto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4" name="Marcador de posición de contenido 3"/>
          <p:cNvSpPr>
            <a:spLocks noGrp="1"/>
          </p:cNvSpPr>
          <p:nvPr>
            <p:ph sz="half" idx="2" hasCustomPrompt="1"/>
          </p:nvPr>
        </p:nvSpPr>
        <p:spPr>
          <a:xfrm>
            <a:off x="581194" y="2926052"/>
            <a:ext cx="5393100" cy="2934999"/>
          </a:xfrm>
        </p:spPr>
        <p:txBody>
          <a:bodyPr rtlCol="0" anchor="t">
            <a:normAutofit/>
          </a:bodyPr>
          <a:lstStyle>
            <a:lvl1pPr>
              <a:defRPr/>
            </a:lvl1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osición de texto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6" name="Marcador de posición de contenido 5"/>
          <p:cNvSpPr>
            <a:spLocks noGrp="1"/>
          </p:cNvSpPr>
          <p:nvPr>
            <p:ph sz="quarter" idx="4" hasCustomPrompt="1"/>
          </p:nvPr>
        </p:nvSpPr>
        <p:spPr>
          <a:xfrm>
            <a:off x="6217709" y="2926052"/>
            <a:ext cx="5393100" cy="2934999"/>
          </a:xfrm>
        </p:spPr>
        <p:txBody>
          <a:bodyPr rtlCol="0" anchor="t">
            <a:normAutofit/>
          </a:bodyPr>
          <a:lstStyle>
            <a:lvl1pPr>
              <a:defRPr/>
            </a:lvl1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p:cNvSpPr>
            <a:spLocks noGrp="1"/>
          </p:cNvSpPr>
          <p:nvPr>
            <p:ph type="dt" sz="half" idx="10"/>
          </p:nvPr>
        </p:nvSpPr>
        <p:spPr/>
        <p:txBody>
          <a:bodyPr rtlCol="0"/>
          <a:lstStyle/>
          <a:p>
            <a:pPr rtl="0"/>
            <a:fld id="{F32D574B-5FDE-4FDF-8F45-99828D8C688F}" type="datetime1">
              <a:rPr lang="es-ES" noProof="0" smtClean="0"/>
              <a:t>26/02/2026</a:t>
            </a:fld>
            <a:endParaRPr lang="es-ES" noProof="0"/>
          </a:p>
        </p:txBody>
      </p:sp>
      <p:sp>
        <p:nvSpPr>
          <p:cNvPr id="8" name="Marcador de posición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Marcador de posición de fecha 2"/>
          <p:cNvSpPr>
            <a:spLocks noGrp="1"/>
          </p:cNvSpPr>
          <p:nvPr>
            <p:ph type="dt" sz="half" idx="10"/>
          </p:nvPr>
        </p:nvSpPr>
        <p:spPr/>
        <p:txBody>
          <a:bodyPr rtlCol="0"/>
          <a:lstStyle/>
          <a:p>
            <a:pPr rtl="0"/>
            <a:fld id="{5C9631C6-D8ED-4343-819F-B7AEF7D4E056}" type="datetime1">
              <a:rPr lang="es-ES" noProof="0" smtClean="0"/>
              <a:t>26/02/2026</a:t>
            </a:fld>
            <a:endParaRPr lang="es-ES" noProof="0"/>
          </a:p>
        </p:txBody>
      </p:sp>
      <p:sp>
        <p:nvSpPr>
          <p:cNvPr id="4" name="Marcador de posición de pie de página 3"/>
          <p:cNvSpPr>
            <a:spLocks noGrp="1"/>
          </p:cNvSpPr>
          <p:nvPr>
            <p:ph type="ftr" sz="quarter" idx="11"/>
          </p:nvPr>
        </p:nvSpPr>
        <p:spPr/>
        <p:txBody>
          <a:bodyPr rtlCol="0"/>
          <a:lstStyle/>
          <a:p>
            <a:pPr rtl="0"/>
            <a:endParaRPr lang="es-ES" noProof="0"/>
          </a:p>
        </p:txBody>
      </p:sp>
      <p:sp>
        <p:nvSpPr>
          <p:cNvPr id="5" name="Marcador de posición de número de diapositiva 4"/>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
        <p:nvSpPr>
          <p:cNvPr id="7" name="Rectángulo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p:nvPr>
        </p:nvSpPr>
        <p:spPr>
          <a:xfrm>
            <a:off x="575894" y="729658"/>
            <a:ext cx="11029616" cy="988332"/>
          </a:xfrm>
        </p:spPr>
        <p:txBody>
          <a:bodyPr rtlCol="0"/>
          <a:lstStyle/>
          <a:p>
            <a:pPr rtl="0"/>
            <a:r>
              <a:rPr lang="es-ES" noProof="0"/>
              <a:t>Haga clic para modificar el estilo de título del patrón</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posición de fecha 1"/>
          <p:cNvSpPr>
            <a:spLocks noGrp="1"/>
          </p:cNvSpPr>
          <p:nvPr>
            <p:ph type="dt" sz="half" idx="10"/>
          </p:nvPr>
        </p:nvSpPr>
        <p:spPr/>
        <p:txBody>
          <a:bodyPr rtlCol="0"/>
          <a:lstStyle/>
          <a:p>
            <a:pPr rtl="0"/>
            <a:fld id="{146FA238-7AE4-47C1-BF2A-706B9C8FFAA8}" type="datetime1">
              <a:rPr lang="es-ES" noProof="0" smtClean="0"/>
              <a:t>26/02/2026</a:t>
            </a:fld>
            <a:endParaRPr lang="es-ES" noProof="0"/>
          </a:p>
        </p:txBody>
      </p:sp>
      <p:sp>
        <p:nvSpPr>
          <p:cNvPr id="3" name="Marcador de posición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ángulo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es-ES" noProof="0"/>
              <a:t>Haga clic para modificar el estilo de título del patrón</a:t>
            </a:r>
          </a:p>
        </p:txBody>
      </p:sp>
      <p:sp>
        <p:nvSpPr>
          <p:cNvPr id="3" name="Marcador de posición de contenido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texto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dirty="0"/>
              <a:t>Editar Estilos de texto del patrón</a:t>
            </a:r>
          </a:p>
        </p:txBody>
      </p:sp>
      <p:sp>
        <p:nvSpPr>
          <p:cNvPr id="5" name="Marcador de posición de fecha 4"/>
          <p:cNvSpPr>
            <a:spLocks noGrp="1"/>
          </p:cNvSpPr>
          <p:nvPr>
            <p:ph type="dt" sz="half" idx="10"/>
          </p:nvPr>
        </p:nvSpPr>
        <p:spPr/>
        <p:txBody>
          <a:bodyPr rtlCol="0"/>
          <a:lstStyle>
            <a:lvl1pPr>
              <a:defRPr>
                <a:solidFill>
                  <a:schemeClr val="accent1">
                    <a:lumMod val="75000"/>
                    <a:lumOff val="25000"/>
                  </a:schemeClr>
                </a:solidFill>
              </a:defRPr>
            </a:lvl1pPr>
          </a:lstStyle>
          <a:p>
            <a:pPr rtl="0"/>
            <a:fld id="{1E6D5EDF-0088-49D6-AAFA-F513F5E3B893}" type="datetime1">
              <a:rPr lang="es-ES" noProof="0" smtClean="0"/>
              <a:t>26/02/2026</a:t>
            </a:fld>
            <a:endParaRPr lang="es-ES" noProof="0"/>
          </a:p>
        </p:txBody>
      </p:sp>
      <p:sp>
        <p:nvSpPr>
          <p:cNvPr id="6" name="Marcador de posición de pie de página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s-ES" noProof="0"/>
          </a:p>
        </p:txBody>
      </p:sp>
      <p:sp>
        <p:nvSpPr>
          <p:cNvPr id="7" name="Marcador de posición de número de diapositiva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4" name="Marcador de posición de texto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Editar Estilos de texto del patrón</a:t>
            </a:r>
          </a:p>
        </p:txBody>
      </p:sp>
      <p:sp>
        <p:nvSpPr>
          <p:cNvPr id="5" name="Marcador de posición de fecha 4"/>
          <p:cNvSpPr>
            <a:spLocks noGrp="1"/>
          </p:cNvSpPr>
          <p:nvPr>
            <p:ph type="dt" sz="half" idx="10"/>
          </p:nvPr>
        </p:nvSpPr>
        <p:spPr/>
        <p:txBody>
          <a:bodyPr rtlCol="0"/>
          <a:lstStyle/>
          <a:p>
            <a:pPr rtl="0"/>
            <a:fld id="{9E2E0ACB-2DC9-41EC-A846-D82D047DE411}" type="datetime1">
              <a:rPr lang="es-ES" noProof="0" smtClean="0"/>
              <a:t>26/02/2026</a:t>
            </a:fld>
            <a:endParaRPr lang="es-ES" noProof="0"/>
          </a:p>
        </p:txBody>
      </p:sp>
      <p:sp>
        <p:nvSpPr>
          <p:cNvPr id="6" name="Marcador de posición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ángulo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ítulo 1"/>
          <p:cNvSpPr>
            <a:spLocks noGrp="1"/>
          </p:cNvSpPr>
          <p:nvPr>
            <p:ph type="title"/>
          </p:nvPr>
        </p:nvSpPr>
        <p:spPr>
          <a:xfrm>
            <a:off x="581192" y="702156"/>
            <a:ext cx="11029616" cy="1013800"/>
          </a:xfrm>
        </p:spPr>
        <p:txBody>
          <a:bodyPr rtlCol="0"/>
          <a:lstStyle/>
          <a:p>
            <a:pPr rtl="0"/>
            <a:r>
              <a:rPr lang="es-ES" noProof="0"/>
              <a:t>Haga clic para modificar el estilo de título del patrón</a:t>
            </a:r>
          </a:p>
        </p:txBody>
      </p:sp>
      <p:sp>
        <p:nvSpPr>
          <p:cNvPr id="3" name="Marcador de posición de texto vertical 2"/>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fecha 3"/>
          <p:cNvSpPr>
            <a:spLocks noGrp="1"/>
          </p:cNvSpPr>
          <p:nvPr>
            <p:ph type="dt" sz="half" idx="10"/>
          </p:nvPr>
        </p:nvSpPr>
        <p:spPr/>
        <p:txBody>
          <a:bodyPr rtlCol="0"/>
          <a:lstStyle/>
          <a:p>
            <a:pPr rtl="0"/>
            <a:fld id="{90FE6873-B7CD-47F1-B4BA-70026F4A4FD4}" type="datetime1">
              <a:rPr lang="es-ES" noProof="0" smtClean="0"/>
              <a:t>26/02/2026</a:t>
            </a:fld>
            <a:endParaRPr lang="es-ES" noProof="0"/>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ángulo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vertical 1"/>
          <p:cNvSpPr>
            <a:spLocks noGrp="1"/>
          </p:cNvSpPr>
          <p:nvPr>
            <p:ph type="title" orient="vert" hasCustomPrompt="1"/>
          </p:nvPr>
        </p:nvSpPr>
        <p:spPr>
          <a:xfrm>
            <a:off x="8839201" y="675726"/>
            <a:ext cx="2004164" cy="5183073"/>
          </a:xfrm>
        </p:spPr>
        <p:txBody>
          <a:bodyPr vert="eaVert" rtlCol="0"/>
          <a:lstStyle/>
          <a:p>
            <a:pPr rtl="0"/>
            <a:r>
              <a:rPr lang="es-ES" noProof="0"/>
              <a:t>Haga clic para modificar el estilo del título principal</a:t>
            </a:r>
          </a:p>
        </p:txBody>
      </p:sp>
      <p:sp>
        <p:nvSpPr>
          <p:cNvPr id="3" name="Marcador de posición de texto vertical 2"/>
          <p:cNvSpPr>
            <a:spLocks noGrp="1"/>
          </p:cNvSpPr>
          <p:nvPr>
            <p:ph type="body" orient="vert" idx="1" hasCustomPrompt="1"/>
          </p:nvPr>
        </p:nvSpPr>
        <p:spPr>
          <a:xfrm>
            <a:off x="774923" y="675726"/>
            <a:ext cx="7896279" cy="5183073"/>
          </a:xfrm>
        </p:spPr>
        <p:txBody>
          <a:bodyPr vert="eaVert" rtlCol="0" anchor="t"/>
          <a:lstStyle>
            <a:lvl1pPr>
              <a:defRPr/>
            </a:lvl1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fecha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96AA1814-B970-47C5-B4E1-BCA0D77E15F3}" type="datetime1">
              <a:rPr lang="es-ES" noProof="0" smtClean="0"/>
              <a:t>26/02/2026</a:t>
            </a:fld>
            <a:endParaRPr lang="es-ES" noProof="0"/>
          </a:p>
        </p:txBody>
      </p:sp>
      <p:sp>
        <p:nvSpPr>
          <p:cNvPr id="5" name="Marcador de posición de pie de página 4"/>
          <p:cNvSpPr>
            <a:spLocks noGrp="1"/>
          </p:cNvSpPr>
          <p:nvPr>
            <p:ph type="ftr" sz="quarter" idx="11"/>
          </p:nvPr>
        </p:nvSpPr>
        <p:spPr>
          <a:xfrm>
            <a:off x="774923" y="5951811"/>
            <a:ext cx="7896279" cy="365125"/>
          </a:xfrm>
        </p:spPr>
        <p:txBody>
          <a:bodyPr rtlCol="0"/>
          <a:lstStyle/>
          <a:p>
            <a:pPr rtl="0"/>
            <a:endParaRPr lang="es-ES" noProof="0"/>
          </a:p>
        </p:txBody>
      </p:sp>
      <p:sp>
        <p:nvSpPr>
          <p:cNvPr id="6" name="Marcador de posición de número de diapositiva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títu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fecha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8DB00A2C-96CA-430C-81E9-81B790CC7C63}" type="datetime1">
              <a:rPr lang="es-ES" noProof="0" smtClean="0"/>
              <a:t>26/02/2026</a:t>
            </a:fld>
            <a:endParaRPr lang="es-ES" noProof="0"/>
          </a:p>
        </p:txBody>
      </p:sp>
      <p:sp>
        <p:nvSpPr>
          <p:cNvPr id="5" name="Marcador de posición de pie de página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es-ES" noProof="0"/>
          </a:p>
        </p:txBody>
      </p:sp>
      <p:sp>
        <p:nvSpPr>
          <p:cNvPr id="6" name="Marcador de posición de número de diapositiva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es-ES" noProof="0" smtClean="0"/>
              <a:pPr rtl="0"/>
              <a:t>‹Nº›</a:t>
            </a:fld>
            <a:endParaRPr lang="es-ES" noProof="0"/>
          </a:p>
        </p:txBody>
      </p:sp>
      <p:sp>
        <p:nvSpPr>
          <p:cNvPr id="9" name="Rectángulo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10" name="Rectángulo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11" name="Rectángulo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ángulo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pic>
        <p:nvPicPr>
          <p:cNvPr id="7" name="Imagen 6" descr="Conexiones digitale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upo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ángulo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19" name="Rectángulo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20" name="Rectángulo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grpSp>
      <p:sp>
        <p:nvSpPr>
          <p:cNvPr id="22" name="Rectángulo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2" name="Título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rtlCol="0">
            <a:noAutofit/>
          </a:bodyPr>
          <a:lstStyle/>
          <a:p>
            <a:pPr rtl="0"/>
            <a:r>
              <a:rPr lang="es-ES" sz="4500" dirty="0">
                <a:solidFill>
                  <a:schemeClr val="bg1"/>
                </a:solidFill>
              </a:rPr>
              <a:t>TALLER APIGEE</a:t>
            </a:r>
          </a:p>
        </p:txBody>
      </p:sp>
      <p:sp>
        <p:nvSpPr>
          <p:cNvPr id="3" name="Subtítulo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rtlCol="0">
            <a:normAutofit/>
          </a:bodyPr>
          <a:lstStyle/>
          <a:p>
            <a:pPr rtl="0"/>
            <a:r>
              <a:rPr lang="es-ES" dirty="0" err="1">
                <a:solidFill>
                  <a:srgbClr val="7CEBFF"/>
                </a:solidFill>
              </a:rPr>
              <a:t>Sesion</a:t>
            </a:r>
            <a:r>
              <a:rPr lang="es-ES" dirty="0">
                <a:solidFill>
                  <a:srgbClr val="7CEBFF"/>
                </a:solidFill>
              </a:rPr>
              <a:t> 1</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a:t>OBJETIVOS</a:t>
            </a:r>
            <a:endParaRPr lang="es-CL" dirty="0"/>
          </a:p>
        </p:txBody>
      </p:sp>
      <p:sp>
        <p:nvSpPr>
          <p:cNvPr id="5" name="Marcador de texto 4"/>
          <p:cNvSpPr>
            <a:spLocks noGrp="1"/>
          </p:cNvSpPr>
          <p:nvPr>
            <p:ph type="body" idx="1"/>
          </p:nvPr>
        </p:nvSpPr>
        <p:spPr/>
        <p:txBody>
          <a:bodyPr/>
          <a:lstStyle/>
          <a:p>
            <a:r>
              <a:rPr lang="es-MX" dirty="0"/>
              <a:t>TEORICO</a:t>
            </a:r>
            <a:endParaRPr lang="es-CL" dirty="0"/>
          </a:p>
        </p:txBody>
      </p:sp>
      <p:sp>
        <p:nvSpPr>
          <p:cNvPr id="3" name="Marcador de contenido 2"/>
          <p:cNvSpPr>
            <a:spLocks noGrp="1"/>
          </p:cNvSpPr>
          <p:nvPr>
            <p:ph sz="half" idx="2"/>
          </p:nvPr>
        </p:nvSpPr>
        <p:spPr/>
        <p:txBody>
          <a:bodyPr/>
          <a:lstStyle/>
          <a:p>
            <a:pPr marL="342900" indent="-342900">
              <a:buFont typeface="+mj-lt"/>
              <a:buAutoNum type="arabicPeriod"/>
            </a:pPr>
            <a:r>
              <a:rPr lang="es-MX" dirty="0"/>
              <a:t>¿Qué es la integración de Servicios?</a:t>
            </a:r>
          </a:p>
          <a:p>
            <a:pPr marL="342900" indent="-342900">
              <a:buFont typeface="+mj-lt"/>
              <a:buAutoNum type="arabicPeriod"/>
            </a:pPr>
            <a:r>
              <a:rPr lang="es-MX" dirty="0"/>
              <a:t>¿Qué es una API?</a:t>
            </a:r>
            <a:endParaRPr lang="es-CL" dirty="0"/>
          </a:p>
          <a:p>
            <a:pPr marL="342900" indent="-342900">
              <a:buFont typeface="+mj-lt"/>
              <a:buAutoNum type="arabicPeriod"/>
            </a:pPr>
            <a:r>
              <a:rPr lang="es-MX" dirty="0"/>
              <a:t>¿Qué significa API?</a:t>
            </a:r>
          </a:p>
          <a:p>
            <a:pPr marL="342900" indent="-342900">
              <a:buFont typeface="+mj-lt"/>
              <a:buAutoNum type="arabicPeriod"/>
            </a:pPr>
            <a:r>
              <a:rPr lang="es-MX" dirty="0"/>
              <a:t>API REST</a:t>
            </a:r>
          </a:p>
          <a:p>
            <a:pPr marL="342900" indent="-342900">
              <a:buFont typeface="+mj-lt"/>
              <a:buAutoNum type="arabicPeriod"/>
            </a:pPr>
            <a:r>
              <a:rPr lang="es-MX" dirty="0"/>
              <a:t>JSON, XML, YAML</a:t>
            </a:r>
          </a:p>
          <a:p>
            <a:pPr marL="342900" indent="-342900">
              <a:buFont typeface="+mj-lt"/>
              <a:buAutoNum type="arabicPeriod"/>
            </a:pPr>
            <a:r>
              <a:rPr lang="es-MX" dirty="0"/>
              <a:t>API MANAGEMENT APIGEE</a:t>
            </a:r>
          </a:p>
        </p:txBody>
      </p:sp>
      <p:sp>
        <p:nvSpPr>
          <p:cNvPr id="6" name="Marcador de texto 5"/>
          <p:cNvSpPr>
            <a:spLocks noGrp="1"/>
          </p:cNvSpPr>
          <p:nvPr>
            <p:ph type="body" sz="quarter" idx="3"/>
          </p:nvPr>
        </p:nvSpPr>
        <p:spPr/>
        <p:txBody>
          <a:bodyPr/>
          <a:lstStyle/>
          <a:p>
            <a:r>
              <a:rPr lang="es-MX" dirty="0"/>
              <a:t>PRACTICO</a:t>
            </a:r>
            <a:endParaRPr lang="es-CL" dirty="0"/>
          </a:p>
        </p:txBody>
      </p:sp>
      <p:sp>
        <p:nvSpPr>
          <p:cNvPr id="4" name="Marcador de contenido 3"/>
          <p:cNvSpPr>
            <a:spLocks noGrp="1"/>
          </p:cNvSpPr>
          <p:nvPr>
            <p:ph sz="quarter" idx="4"/>
          </p:nvPr>
        </p:nvSpPr>
        <p:spPr/>
        <p:txBody>
          <a:bodyPr/>
          <a:lstStyle/>
          <a:p>
            <a:pPr marL="342900" indent="-342900">
              <a:buFont typeface="+mj-lt"/>
              <a:buAutoNum type="arabicPeriod"/>
            </a:pPr>
            <a:r>
              <a:rPr lang="es-MX" dirty="0"/>
              <a:t>API PROXY</a:t>
            </a:r>
          </a:p>
          <a:p>
            <a:pPr marL="342900" indent="-342900">
              <a:buFont typeface="+mj-lt"/>
              <a:buAutoNum type="arabicPeriod"/>
            </a:pPr>
            <a:r>
              <a:rPr lang="es-MX" dirty="0"/>
              <a:t>SHARED FLOW</a:t>
            </a:r>
          </a:p>
          <a:p>
            <a:pPr marL="342900" indent="-342900">
              <a:buFont typeface="+mj-lt"/>
              <a:buAutoNum type="arabicPeriod"/>
            </a:pPr>
            <a:r>
              <a:rPr lang="es-MX" dirty="0"/>
              <a:t>ENVIROMENT CONFIGURATION</a:t>
            </a:r>
          </a:p>
          <a:p>
            <a:pPr marL="342900" indent="-342900">
              <a:buFont typeface="+mj-lt"/>
              <a:buAutoNum type="arabicPeriod"/>
            </a:pPr>
            <a:r>
              <a:rPr lang="es-MX" dirty="0"/>
              <a:t>PRODUCT</a:t>
            </a:r>
          </a:p>
          <a:p>
            <a:pPr marL="342900" indent="-342900">
              <a:buFont typeface="+mj-lt"/>
              <a:buAutoNum type="arabicPeriod"/>
            </a:pPr>
            <a:r>
              <a:rPr lang="es-MX" dirty="0"/>
              <a:t>DEVELOP</a:t>
            </a:r>
          </a:p>
          <a:p>
            <a:pPr marL="342900" indent="-342900">
              <a:buFont typeface="+mj-lt"/>
              <a:buAutoNum type="arabicPeriod"/>
            </a:pPr>
            <a:r>
              <a:rPr lang="es-MX" dirty="0"/>
              <a:t>APP</a:t>
            </a:r>
          </a:p>
          <a:p>
            <a:pPr marL="342900" indent="-342900">
              <a:buFont typeface="+mj-lt"/>
              <a:buAutoNum type="arabicPeriod"/>
            </a:pPr>
            <a:r>
              <a:rPr lang="es-MX" dirty="0"/>
              <a:t>HOLA MUNDO </a:t>
            </a:r>
            <a:endParaRPr lang="es-CL" dirty="0"/>
          </a:p>
        </p:txBody>
      </p:sp>
    </p:spTree>
    <p:extLst>
      <p:ext uri="{BB962C8B-B14F-4D97-AF65-F5344CB8AC3E}">
        <p14:creationId xmlns:p14="http://schemas.microsoft.com/office/powerpoint/2010/main" val="4048161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¿Qué es la integración de Servicios?</a:t>
            </a:r>
            <a:endParaRPr lang="es-CL" dirty="0"/>
          </a:p>
        </p:txBody>
      </p:sp>
      <p:sp>
        <p:nvSpPr>
          <p:cNvPr id="8" name="Marcador de contenido 7"/>
          <p:cNvSpPr>
            <a:spLocks noGrp="1"/>
          </p:cNvSpPr>
          <p:nvPr>
            <p:ph sz="half" idx="1"/>
          </p:nvPr>
        </p:nvSpPr>
        <p:spPr/>
        <p:txBody>
          <a:bodyPr/>
          <a:lstStyle/>
          <a:p>
            <a:r>
              <a:rPr lang="es-MX" dirty="0"/>
              <a:t>La integración de servicios es un conjunto de tecnologías que proporciona servicios de mensajería asíncrona, configurando un medio por el cual dos sistemas se comunican. </a:t>
            </a:r>
            <a:endParaRPr lang="es-CL" dirty="0"/>
          </a:p>
        </p:txBody>
      </p:sp>
      <p:pic>
        <p:nvPicPr>
          <p:cNvPr id="10" name="Marcador de contenido 9"/>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88075" y="2499809"/>
            <a:ext cx="5422900" cy="3088695"/>
          </a:xfrm>
        </p:spPr>
      </p:pic>
      <p:sp>
        <p:nvSpPr>
          <p:cNvPr id="11" name="Rectángulo 10"/>
          <p:cNvSpPr/>
          <p:nvPr/>
        </p:nvSpPr>
        <p:spPr>
          <a:xfrm>
            <a:off x="581193" y="5588504"/>
            <a:ext cx="6096000" cy="646331"/>
          </a:xfrm>
          <a:prstGeom prst="rect">
            <a:avLst/>
          </a:prstGeom>
        </p:spPr>
        <p:txBody>
          <a:bodyPr>
            <a:spAutoFit/>
          </a:bodyPr>
          <a:lstStyle/>
          <a:p>
            <a:r>
              <a:rPr lang="es-CL" dirty="0"/>
              <a:t>https://www.ibm.com/docs/es/was-nd/8.5.5?topic=technologies-service-integration</a:t>
            </a:r>
          </a:p>
        </p:txBody>
      </p:sp>
    </p:spTree>
    <p:extLst>
      <p:ext uri="{BB962C8B-B14F-4D97-AF65-F5344CB8AC3E}">
        <p14:creationId xmlns:p14="http://schemas.microsoft.com/office/powerpoint/2010/main" val="480777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¿Qué es una API?</a:t>
            </a:r>
            <a:endParaRPr lang="es-CL" dirty="0"/>
          </a:p>
        </p:txBody>
      </p:sp>
      <p:sp>
        <p:nvSpPr>
          <p:cNvPr id="7" name="Marcador de contenido 6"/>
          <p:cNvSpPr>
            <a:spLocks noGrp="1"/>
          </p:cNvSpPr>
          <p:nvPr>
            <p:ph idx="1"/>
          </p:nvPr>
        </p:nvSpPr>
        <p:spPr/>
        <p:txBody>
          <a:bodyPr/>
          <a:lstStyle/>
          <a:p>
            <a:r>
              <a:rPr lang="es-MX" dirty="0"/>
              <a:t>Las API son mecanismos que permiten a dos componentes de software comunicarse entre sí mediante un conjunto de definiciones y protocolos. Por ejemplo, el sistema de software del instituto de meteorología contiene datos meteorológicos diarios. La aplicación meteorológica de su teléfono “habla” con este sistema a través de las API y le muestra las actualizaciones meteorológicas diarias en su teléfono.</a:t>
            </a:r>
            <a:endParaRPr lang="es-CL" dirty="0"/>
          </a:p>
        </p:txBody>
      </p:sp>
      <p:sp>
        <p:nvSpPr>
          <p:cNvPr id="8" name="Rectángulo 7"/>
          <p:cNvSpPr/>
          <p:nvPr/>
        </p:nvSpPr>
        <p:spPr>
          <a:xfrm>
            <a:off x="7820154" y="5858799"/>
            <a:ext cx="3790653" cy="369332"/>
          </a:xfrm>
          <a:prstGeom prst="rect">
            <a:avLst/>
          </a:prstGeom>
        </p:spPr>
        <p:txBody>
          <a:bodyPr wrap="none">
            <a:spAutoFit/>
          </a:bodyPr>
          <a:lstStyle/>
          <a:p>
            <a:r>
              <a:rPr lang="es-CL" dirty="0"/>
              <a:t>https://aws.amazon.com/es/what-is/api/</a:t>
            </a:r>
          </a:p>
        </p:txBody>
      </p:sp>
    </p:spTree>
    <p:extLst>
      <p:ext uri="{BB962C8B-B14F-4D97-AF65-F5344CB8AC3E}">
        <p14:creationId xmlns:p14="http://schemas.microsoft.com/office/powerpoint/2010/main" val="2982602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¿Qué significa API?</a:t>
            </a:r>
            <a:endParaRPr lang="es-CL" dirty="0"/>
          </a:p>
        </p:txBody>
      </p:sp>
      <p:sp>
        <p:nvSpPr>
          <p:cNvPr id="7" name="Marcador de contenido 6"/>
          <p:cNvSpPr>
            <a:spLocks noGrp="1"/>
          </p:cNvSpPr>
          <p:nvPr>
            <p:ph idx="1"/>
          </p:nvPr>
        </p:nvSpPr>
        <p:spPr/>
        <p:txBody>
          <a:bodyPr/>
          <a:lstStyle/>
          <a:p>
            <a:r>
              <a:rPr lang="es-MX" dirty="0"/>
              <a:t>API significa “interfaz de programación de aplicaciones”. En el contexto de las API, la palabra aplicación se refiere a cualquier software con una función distinta. La interfaz puede considerarse como un contrato de servicio entre dos aplicaciones. Este contrato define cómo se comunican entre sí mediante solicitudes y respuestas. La documentación de su API contiene información sobre cómo los desarrolladores deben estructurar esas solicitudes y respuestas.</a:t>
            </a:r>
            <a:endParaRPr lang="es-CL" dirty="0"/>
          </a:p>
        </p:txBody>
      </p:sp>
      <p:sp>
        <p:nvSpPr>
          <p:cNvPr id="8" name="Rectángulo 7"/>
          <p:cNvSpPr/>
          <p:nvPr/>
        </p:nvSpPr>
        <p:spPr>
          <a:xfrm>
            <a:off x="7820154" y="5858799"/>
            <a:ext cx="3790653" cy="369332"/>
          </a:xfrm>
          <a:prstGeom prst="rect">
            <a:avLst/>
          </a:prstGeom>
        </p:spPr>
        <p:txBody>
          <a:bodyPr wrap="none">
            <a:spAutoFit/>
          </a:bodyPr>
          <a:lstStyle/>
          <a:p>
            <a:r>
              <a:rPr lang="es-CL" dirty="0"/>
              <a:t>https://aws.amazon.com/es/what-is/api/</a:t>
            </a:r>
          </a:p>
        </p:txBody>
      </p:sp>
    </p:spTree>
    <p:extLst>
      <p:ext uri="{BB962C8B-B14F-4D97-AF65-F5344CB8AC3E}">
        <p14:creationId xmlns:p14="http://schemas.microsoft.com/office/powerpoint/2010/main" val="856761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API </a:t>
            </a:r>
            <a:r>
              <a:rPr lang="es-MX" dirty="0" err="1"/>
              <a:t>Rest</a:t>
            </a:r>
            <a:endParaRPr lang="es-CL" dirty="0"/>
          </a:p>
        </p:txBody>
      </p:sp>
      <p:sp>
        <p:nvSpPr>
          <p:cNvPr id="3" name="Marcador de texto 2"/>
          <p:cNvSpPr>
            <a:spLocks noGrp="1"/>
          </p:cNvSpPr>
          <p:nvPr>
            <p:ph type="body" idx="1"/>
          </p:nvPr>
        </p:nvSpPr>
        <p:spPr/>
        <p:txBody>
          <a:bodyPr/>
          <a:lstStyle/>
          <a:p>
            <a:r>
              <a:rPr lang="es-MX" dirty="0"/>
              <a:t>¿Cómo Funcionan las API?</a:t>
            </a:r>
            <a:endParaRPr lang="es-CL" dirty="0"/>
          </a:p>
        </p:txBody>
      </p:sp>
      <p:sp>
        <p:nvSpPr>
          <p:cNvPr id="4" name="Marcador de contenido 3"/>
          <p:cNvSpPr>
            <a:spLocks noGrp="1"/>
          </p:cNvSpPr>
          <p:nvPr>
            <p:ph sz="half" idx="2"/>
          </p:nvPr>
        </p:nvSpPr>
        <p:spPr/>
        <p:txBody>
          <a:bodyPr/>
          <a:lstStyle/>
          <a:p>
            <a:r>
              <a:rPr lang="es-MX" dirty="0"/>
              <a:t>La arquitectura de las API suele explicarse en términos de cliente y servidor. La aplicación que envía la solicitud se llama cliente, y la que envía la respuesta se llama servidor. En el ejemplo del tiempo, la base de datos meteorológicos del instituto es el servidor y la aplicación móvil es el cliente. </a:t>
            </a:r>
            <a:endParaRPr lang="es-CL" dirty="0"/>
          </a:p>
        </p:txBody>
      </p:sp>
      <p:sp>
        <p:nvSpPr>
          <p:cNvPr id="5" name="Marcador de texto 4"/>
          <p:cNvSpPr>
            <a:spLocks noGrp="1"/>
          </p:cNvSpPr>
          <p:nvPr>
            <p:ph type="body" sz="quarter" idx="3"/>
          </p:nvPr>
        </p:nvSpPr>
        <p:spPr/>
        <p:txBody>
          <a:bodyPr/>
          <a:lstStyle/>
          <a:p>
            <a:r>
              <a:rPr lang="es-MX" dirty="0"/>
              <a:t>API de REST</a:t>
            </a:r>
            <a:endParaRPr lang="es-CL" dirty="0"/>
          </a:p>
        </p:txBody>
      </p:sp>
      <p:sp>
        <p:nvSpPr>
          <p:cNvPr id="6" name="Marcador de contenido 5"/>
          <p:cNvSpPr>
            <a:spLocks noGrp="1"/>
          </p:cNvSpPr>
          <p:nvPr>
            <p:ph sz="quarter" idx="4"/>
          </p:nvPr>
        </p:nvSpPr>
        <p:spPr/>
        <p:txBody>
          <a:bodyPr/>
          <a:lstStyle/>
          <a:p>
            <a:r>
              <a:rPr lang="es-MX" dirty="0"/>
              <a:t>Estas son las API más populares y flexibles que se encuentran en la web actualmente. El cliente envía las solicitudes al servidor como datos. El servidor utiliza esta entrada del cliente para iniciar funciones internas y devuelve los datos de salida al cliente. </a:t>
            </a:r>
            <a:endParaRPr lang="es-CL" dirty="0"/>
          </a:p>
        </p:txBody>
      </p:sp>
      <p:sp>
        <p:nvSpPr>
          <p:cNvPr id="7" name="Rectángulo 6"/>
          <p:cNvSpPr/>
          <p:nvPr/>
        </p:nvSpPr>
        <p:spPr>
          <a:xfrm>
            <a:off x="7820155" y="5861051"/>
            <a:ext cx="3790653" cy="369332"/>
          </a:xfrm>
          <a:prstGeom prst="rect">
            <a:avLst/>
          </a:prstGeom>
        </p:spPr>
        <p:txBody>
          <a:bodyPr wrap="none">
            <a:spAutoFit/>
          </a:bodyPr>
          <a:lstStyle/>
          <a:p>
            <a:r>
              <a:rPr lang="es-CL" dirty="0"/>
              <a:t>https://aws.amazon.com/es/what-is/api/</a:t>
            </a:r>
          </a:p>
        </p:txBody>
      </p:sp>
    </p:spTree>
    <p:extLst>
      <p:ext uri="{BB962C8B-B14F-4D97-AF65-F5344CB8AC3E}">
        <p14:creationId xmlns:p14="http://schemas.microsoft.com/office/powerpoint/2010/main" val="3394249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API REST</a:t>
            </a:r>
            <a:endParaRPr lang="es-CL" dirty="0"/>
          </a:p>
        </p:txBody>
      </p:sp>
      <p:sp>
        <p:nvSpPr>
          <p:cNvPr id="7" name="Marcador de contenido 6"/>
          <p:cNvSpPr>
            <a:spLocks noGrp="1"/>
          </p:cNvSpPr>
          <p:nvPr>
            <p:ph idx="1"/>
          </p:nvPr>
        </p:nvSpPr>
        <p:spPr/>
        <p:txBody>
          <a:bodyPr/>
          <a:lstStyle/>
          <a:p>
            <a:r>
              <a:rPr lang="es-MX" dirty="0"/>
              <a:t>REST significa transferencia de estado representacional. REST define un conjunto de funciones como GET, PUT, DELETE, etc. que los clientes pueden utilizar para acceder a los datos del servidor. Los clientes y los servidores intercambian datos mediante HTTP.</a:t>
            </a:r>
          </a:p>
          <a:p>
            <a:r>
              <a:rPr lang="es-MX" dirty="0"/>
              <a:t>La principal característica de la API de REST es que no tiene estado. La ausencia de estado significa que los servidores no guardan los datos del cliente entre las solicitudes. Las solicitudes de los clientes al servidor son similares a las URL que se escriben en el navegador para visitar un sitio web. La respuesta del servidor son datos simples, sin la típica representación gráfica de una página web.</a:t>
            </a:r>
          </a:p>
        </p:txBody>
      </p:sp>
      <p:sp>
        <p:nvSpPr>
          <p:cNvPr id="8" name="Rectángulo 7"/>
          <p:cNvSpPr/>
          <p:nvPr/>
        </p:nvSpPr>
        <p:spPr>
          <a:xfrm>
            <a:off x="7820154" y="5858799"/>
            <a:ext cx="3790653" cy="369332"/>
          </a:xfrm>
          <a:prstGeom prst="rect">
            <a:avLst/>
          </a:prstGeom>
        </p:spPr>
        <p:txBody>
          <a:bodyPr wrap="none">
            <a:spAutoFit/>
          </a:bodyPr>
          <a:lstStyle/>
          <a:p>
            <a:r>
              <a:rPr lang="es-CL" dirty="0"/>
              <a:t>https://aws.amazon.com/es/what-is/api/</a:t>
            </a:r>
          </a:p>
        </p:txBody>
      </p:sp>
      <p:sp>
        <p:nvSpPr>
          <p:cNvPr id="9" name="Rectángulo 8"/>
          <p:cNvSpPr/>
          <p:nvPr/>
        </p:nvSpPr>
        <p:spPr>
          <a:xfrm>
            <a:off x="581192" y="5858799"/>
            <a:ext cx="6096000" cy="646331"/>
          </a:xfrm>
          <a:prstGeom prst="rect">
            <a:avLst/>
          </a:prstGeom>
        </p:spPr>
        <p:txBody>
          <a:bodyPr>
            <a:spAutoFit/>
          </a:bodyPr>
          <a:lstStyle/>
          <a:p>
            <a:r>
              <a:rPr lang="es-CL" dirty="0"/>
              <a:t>https://blog.thedojo.mx/2019/08/03/entendiendo-rest-servidor-sin-estado.html</a:t>
            </a:r>
          </a:p>
        </p:txBody>
      </p:sp>
    </p:spTree>
    <p:extLst>
      <p:ext uri="{BB962C8B-B14F-4D97-AF65-F5344CB8AC3E}">
        <p14:creationId xmlns:p14="http://schemas.microsoft.com/office/powerpoint/2010/main" val="3626704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Estructuras de datos</a:t>
            </a:r>
            <a:endParaRPr lang="es-CL" dirty="0"/>
          </a:p>
        </p:txBody>
      </p:sp>
      <p:sp>
        <p:nvSpPr>
          <p:cNvPr id="3" name="Marcador de texto 2"/>
          <p:cNvSpPr>
            <a:spLocks noGrp="1"/>
          </p:cNvSpPr>
          <p:nvPr>
            <p:ph type="body" idx="1"/>
          </p:nvPr>
        </p:nvSpPr>
        <p:spPr/>
        <p:txBody>
          <a:bodyPr/>
          <a:lstStyle/>
          <a:p>
            <a:r>
              <a:rPr lang="es-MX" dirty="0"/>
              <a:t>XML</a:t>
            </a:r>
            <a:endParaRPr lang="es-CL" dirty="0"/>
          </a:p>
        </p:txBody>
      </p:sp>
      <p:sp>
        <p:nvSpPr>
          <p:cNvPr id="4" name="Marcador de contenido 3"/>
          <p:cNvSpPr>
            <a:spLocks noGrp="1"/>
          </p:cNvSpPr>
          <p:nvPr>
            <p:ph sz="half" idx="2"/>
          </p:nvPr>
        </p:nvSpPr>
        <p:spPr/>
        <p:txBody>
          <a:bodyPr/>
          <a:lstStyle/>
          <a:p>
            <a:r>
              <a:rPr lang="es-MX" dirty="0"/>
              <a:t>El lenguaje de marcado extensible (XML) permite definir y almacenar datos de forma compartible. XML admite el intercambio de información entre sistemas de computación, como sitios web, bases de datos y aplicaciones de terceros. Las reglas predefinidas facilitan la transmisión de datos como archivos XML a través de cualquier red, ya que el destinatario puede usar esas reglas para leer los datos de forma precisa y eficiente.</a:t>
            </a:r>
            <a:endParaRPr lang="es-CL" dirty="0"/>
          </a:p>
        </p:txBody>
      </p:sp>
      <p:sp>
        <p:nvSpPr>
          <p:cNvPr id="5" name="Marcador de texto 4"/>
          <p:cNvSpPr>
            <a:spLocks noGrp="1"/>
          </p:cNvSpPr>
          <p:nvPr>
            <p:ph type="body" sz="quarter" idx="3"/>
          </p:nvPr>
        </p:nvSpPr>
        <p:spPr/>
        <p:txBody>
          <a:bodyPr/>
          <a:lstStyle/>
          <a:p>
            <a:endParaRPr lang="es-CL"/>
          </a:p>
        </p:txBody>
      </p:sp>
      <p:sp>
        <p:nvSpPr>
          <p:cNvPr id="7" name="Rectángulo 6"/>
          <p:cNvSpPr/>
          <p:nvPr/>
        </p:nvSpPr>
        <p:spPr>
          <a:xfrm>
            <a:off x="2344661" y="5861051"/>
            <a:ext cx="3873048" cy="369332"/>
          </a:xfrm>
          <a:prstGeom prst="rect">
            <a:avLst/>
          </a:prstGeom>
        </p:spPr>
        <p:txBody>
          <a:bodyPr wrap="none">
            <a:spAutoFit/>
          </a:bodyPr>
          <a:lstStyle/>
          <a:p>
            <a:r>
              <a:rPr lang="es-CL" dirty="0"/>
              <a:t>https://aws.amazon.com/es/what-is/xml/</a:t>
            </a:r>
          </a:p>
        </p:txBody>
      </p:sp>
      <p:pic>
        <p:nvPicPr>
          <p:cNvPr id="14" name="Marcador de contenido 13"/>
          <p:cNvPicPr>
            <a:picLocks noGrp="1" noChangeAspect="1"/>
          </p:cNvPicPr>
          <p:nvPr>
            <p:ph sz="quarter" idx="4"/>
          </p:nvPr>
        </p:nvPicPr>
        <p:blipFill>
          <a:blip r:embed="rId2"/>
          <a:stretch>
            <a:fillRect/>
          </a:stretch>
        </p:blipFill>
        <p:spPr>
          <a:xfrm>
            <a:off x="7852569" y="3188494"/>
            <a:ext cx="2124075" cy="2409825"/>
          </a:xfrm>
          <a:prstGeom prst="rect">
            <a:avLst/>
          </a:prstGeom>
        </p:spPr>
      </p:pic>
    </p:spTree>
    <p:extLst>
      <p:ext uri="{BB962C8B-B14F-4D97-AF65-F5344CB8AC3E}">
        <p14:creationId xmlns:p14="http://schemas.microsoft.com/office/powerpoint/2010/main" val="4154432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Estructuras de datos</a:t>
            </a:r>
            <a:endParaRPr lang="es-CL" dirty="0"/>
          </a:p>
        </p:txBody>
      </p:sp>
      <p:sp>
        <p:nvSpPr>
          <p:cNvPr id="3" name="Marcador de texto 2"/>
          <p:cNvSpPr>
            <a:spLocks noGrp="1"/>
          </p:cNvSpPr>
          <p:nvPr>
            <p:ph type="body" idx="1"/>
          </p:nvPr>
        </p:nvSpPr>
        <p:spPr/>
        <p:txBody>
          <a:bodyPr/>
          <a:lstStyle/>
          <a:p>
            <a:r>
              <a:rPr lang="es-MX" dirty="0"/>
              <a:t>JSON</a:t>
            </a:r>
            <a:endParaRPr lang="es-CL" dirty="0"/>
          </a:p>
        </p:txBody>
      </p:sp>
      <p:sp>
        <p:nvSpPr>
          <p:cNvPr id="4" name="Marcador de contenido 3"/>
          <p:cNvSpPr>
            <a:spLocks noGrp="1"/>
          </p:cNvSpPr>
          <p:nvPr>
            <p:ph sz="half" idx="2"/>
          </p:nvPr>
        </p:nvSpPr>
        <p:spPr/>
        <p:txBody>
          <a:bodyPr/>
          <a:lstStyle/>
          <a:p>
            <a:r>
              <a:rPr lang="es-MX" dirty="0"/>
              <a:t>JSON, o JavaScript </a:t>
            </a:r>
            <a:r>
              <a:rPr lang="es-MX" dirty="0" err="1"/>
              <a:t>Object</a:t>
            </a:r>
            <a:r>
              <a:rPr lang="es-MX" dirty="0"/>
              <a:t> </a:t>
            </a:r>
            <a:r>
              <a:rPr lang="es-MX" dirty="0" err="1"/>
              <a:t>Notation</a:t>
            </a:r>
            <a:r>
              <a:rPr lang="es-MX" dirty="0"/>
              <a:t>, es un formato de intercambio de datos ligero que se utiliza habitualmente para intercambiar datos entre aplicaciones web.</a:t>
            </a:r>
            <a:endParaRPr lang="es-CL" dirty="0"/>
          </a:p>
        </p:txBody>
      </p:sp>
      <p:sp>
        <p:nvSpPr>
          <p:cNvPr id="5" name="Marcador de texto 4"/>
          <p:cNvSpPr>
            <a:spLocks noGrp="1"/>
          </p:cNvSpPr>
          <p:nvPr>
            <p:ph type="body" sz="quarter" idx="3"/>
          </p:nvPr>
        </p:nvSpPr>
        <p:spPr/>
        <p:txBody>
          <a:bodyPr/>
          <a:lstStyle/>
          <a:p>
            <a:endParaRPr lang="es-CL"/>
          </a:p>
        </p:txBody>
      </p:sp>
      <p:sp>
        <p:nvSpPr>
          <p:cNvPr id="7" name="Rectángulo 6"/>
          <p:cNvSpPr/>
          <p:nvPr/>
        </p:nvSpPr>
        <p:spPr>
          <a:xfrm>
            <a:off x="581193" y="5982838"/>
            <a:ext cx="6096000" cy="369332"/>
          </a:xfrm>
          <a:prstGeom prst="rect">
            <a:avLst/>
          </a:prstGeom>
        </p:spPr>
        <p:txBody>
          <a:bodyPr>
            <a:spAutoFit/>
          </a:bodyPr>
          <a:lstStyle/>
          <a:p>
            <a:r>
              <a:rPr lang="es-CL" dirty="0"/>
              <a:t>https://www.dongee.com/tutoriales/que-es-json/</a:t>
            </a:r>
          </a:p>
        </p:txBody>
      </p:sp>
      <p:pic>
        <p:nvPicPr>
          <p:cNvPr id="14" name="Marcador de contenido 13"/>
          <p:cNvPicPr>
            <a:picLocks noGrp="1" noChangeAspect="1"/>
          </p:cNvPicPr>
          <p:nvPr>
            <p:ph sz="quarter" idx="4"/>
          </p:nvPr>
        </p:nvPicPr>
        <p:blipFill>
          <a:blip r:embed="rId2"/>
          <a:stretch>
            <a:fillRect/>
          </a:stretch>
        </p:blipFill>
        <p:spPr>
          <a:xfrm>
            <a:off x="7947819" y="3088481"/>
            <a:ext cx="1933575" cy="2609850"/>
          </a:xfrm>
          <a:prstGeom prst="rect">
            <a:avLst/>
          </a:prstGeom>
        </p:spPr>
      </p:pic>
    </p:spTree>
    <p:extLst>
      <p:ext uri="{BB962C8B-B14F-4D97-AF65-F5344CB8AC3E}">
        <p14:creationId xmlns:p14="http://schemas.microsoft.com/office/powerpoint/2010/main" val="2860318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err="1"/>
              <a:t>ESTRUCTURAs</a:t>
            </a:r>
            <a:r>
              <a:rPr lang="es-MX" dirty="0"/>
              <a:t> DE DATOS</a:t>
            </a:r>
            <a:endParaRPr lang="es-CL" dirty="0"/>
          </a:p>
        </p:txBody>
      </p:sp>
      <p:sp>
        <p:nvSpPr>
          <p:cNvPr id="3" name="Marcador de texto 2"/>
          <p:cNvSpPr>
            <a:spLocks noGrp="1"/>
          </p:cNvSpPr>
          <p:nvPr>
            <p:ph type="body" idx="1"/>
          </p:nvPr>
        </p:nvSpPr>
        <p:spPr/>
        <p:txBody>
          <a:bodyPr/>
          <a:lstStyle/>
          <a:p>
            <a:r>
              <a:rPr lang="es-MX" dirty="0"/>
              <a:t>YAML</a:t>
            </a:r>
            <a:endParaRPr lang="es-CL" dirty="0"/>
          </a:p>
        </p:txBody>
      </p:sp>
      <p:sp>
        <p:nvSpPr>
          <p:cNvPr id="4" name="Marcador de contenido 3"/>
          <p:cNvSpPr>
            <a:spLocks noGrp="1"/>
          </p:cNvSpPr>
          <p:nvPr>
            <p:ph sz="half" idx="2"/>
          </p:nvPr>
        </p:nvSpPr>
        <p:spPr/>
        <p:txBody>
          <a:bodyPr/>
          <a:lstStyle/>
          <a:p>
            <a:r>
              <a:rPr lang="es-MX" dirty="0"/>
              <a:t>YAML es un formato de </a:t>
            </a:r>
            <a:r>
              <a:rPr lang="es-MX" dirty="0" err="1"/>
              <a:t>serialización</a:t>
            </a:r>
            <a:r>
              <a:rPr lang="es-MX" dirty="0"/>
              <a:t> de datos cuyas siglas significan </a:t>
            </a:r>
            <a:r>
              <a:rPr lang="es-MX" b="1" dirty="0"/>
              <a:t>YAML </a:t>
            </a:r>
            <a:r>
              <a:rPr lang="es-MX" b="1" dirty="0" err="1"/>
              <a:t>ain’t</a:t>
            </a:r>
            <a:r>
              <a:rPr lang="es-MX" b="1" dirty="0"/>
              <a:t> </a:t>
            </a:r>
            <a:r>
              <a:rPr lang="es-MX" b="1" dirty="0" err="1"/>
              <a:t>Markup</a:t>
            </a:r>
            <a:r>
              <a:rPr lang="es-MX" b="1" dirty="0"/>
              <a:t> </a:t>
            </a:r>
            <a:r>
              <a:rPr lang="es-MX" b="1" dirty="0" err="1"/>
              <a:t>language</a:t>
            </a:r>
            <a:endParaRPr lang="es-MX" dirty="0"/>
          </a:p>
          <a:p>
            <a:r>
              <a:rPr lang="es-MX" dirty="0"/>
              <a:t>La principal ventaja de utilizar YAML es su legibilidad y capacidad de escritura. Si tiene un archivo de configuración que debe ser más fácil de leer para los humanos, es mejor que utilice YAML. YAML no es una sustitución completa de JSON ya que JSON y XML también tienen su lugar; sin embargo, es útil aprender YAML</a:t>
            </a:r>
          </a:p>
        </p:txBody>
      </p:sp>
      <p:sp>
        <p:nvSpPr>
          <p:cNvPr id="5" name="Marcador de texto 4"/>
          <p:cNvSpPr>
            <a:spLocks noGrp="1"/>
          </p:cNvSpPr>
          <p:nvPr>
            <p:ph type="body" sz="quarter" idx="3"/>
          </p:nvPr>
        </p:nvSpPr>
        <p:spPr/>
        <p:txBody>
          <a:bodyPr/>
          <a:lstStyle/>
          <a:p>
            <a:endParaRPr lang="es-CL"/>
          </a:p>
        </p:txBody>
      </p:sp>
      <p:pic>
        <p:nvPicPr>
          <p:cNvPr id="8" name="Marcador de contenido 7"/>
          <p:cNvPicPr>
            <a:picLocks noGrp="1" noChangeAspect="1"/>
          </p:cNvPicPr>
          <p:nvPr>
            <p:ph sz="quarter" idx="4"/>
          </p:nvPr>
        </p:nvPicPr>
        <p:blipFill>
          <a:blip r:embed="rId2"/>
          <a:stretch>
            <a:fillRect/>
          </a:stretch>
        </p:blipFill>
        <p:spPr>
          <a:xfrm>
            <a:off x="8157369" y="3559969"/>
            <a:ext cx="1514475" cy="1666875"/>
          </a:xfrm>
          <a:prstGeom prst="rect">
            <a:avLst/>
          </a:prstGeom>
        </p:spPr>
      </p:pic>
      <p:sp>
        <p:nvSpPr>
          <p:cNvPr id="7" name="Rectángulo 6"/>
          <p:cNvSpPr/>
          <p:nvPr/>
        </p:nvSpPr>
        <p:spPr>
          <a:xfrm>
            <a:off x="1787892" y="5861051"/>
            <a:ext cx="4186402" cy="369332"/>
          </a:xfrm>
          <a:prstGeom prst="rect">
            <a:avLst/>
          </a:prstGeom>
        </p:spPr>
        <p:txBody>
          <a:bodyPr wrap="none">
            <a:spAutoFit/>
          </a:bodyPr>
          <a:lstStyle/>
          <a:p>
            <a:r>
              <a:rPr lang="es-CL" dirty="0"/>
              <a:t>https://geekflare.com/es/yaml-introduction/</a:t>
            </a:r>
          </a:p>
        </p:txBody>
      </p:sp>
    </p:spTree>
    <p:extLst>
      <p:ext uri="{BB962C8B-B14F-4D97-AF65-F5344CB8AC3E}">
        <p14:creationId xmlns:p14="http://schemas.microsoft.com/office/powerpoint/2010/main" val="518087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API MANAGEMENT APIGEE</a:t>
            </a:r>
            <a:endParaRPr lang="es-CL" dirty="0"/>
          </a:p>
        </p:txBody>
      </p:sp>
      <p:sp>
        <p:nvSpPr>
          <p:cNvPr id="3" name="Marcador de texto 2"/>
          <p:cNvSpPr>
            <a:spLocks noGrp="1"/>
          </p:cNvSpPr>
          <p:nvPr>
            <p:ph type="body" idx="1"/>
          </p:nvPr>
        </p:nvSpPr>
        <p:spPr/>
        <p:txBody>
          <a:bodyPr/>
          <a:lstStyle/>
          <a:p>
            <a:r>
              <a:rPr lang="es-MX" dirty="0"/>
              <a:t>¿Qué es </a:t>
            </a:r>
            <a:r>
              <a:rPr lang="es-MX" dirty="0" err="1"/>
              <a:t>apigee</a:t>
            </a:r>
            <a:r>
              <a:rPr lang="es-MX" dirty="0"/>
              <a:t>?</a:t>
            </a:r>
            <a:endParaRPr lang="es-CL" dirty="0"/>
          </a:p>
        </p:txBody>
      </p:sp>
      <p:sp>
        <p:nvSpPr>
          <p:cNvPr id="4" name="Marcador de contenido 3"/>
          <p:cNvSpPr>
            <a:spLocks noGrp="1"/>
          </p:cNvSpPr>
          <p:nvPr>
            <p:ph sz="half" idx="2"/>
          </p:nvPr>
        </p:nvSpPr>
        <p:spPr/>
        <p:txBody>
          <a:bodyPr/>
          <a:lstStyle/>
          <a:p>
            <a:r>
              <a:rPr lang="es-MX" dirty="0" err="1"/>
              <a:t>Apigee</a:t>
            </a:r>
            <a:r>
              <a:rPr lang="es-MX" dirty="0"/>
              <a:t> es una plataforma para desarrollar y administrar la API. Mediante el </a:t>
            </a:r>
            <a:r>
              <a:rPr lang="es-MX" dirty="0" err="1"/>
              <a:t>fronting</a:t>
            </a:r>
            <a:r>
              <a:rPr lang="es-MX" dirty="0"/>
              <a:t> de servicios con una capa de proxy, </a:t>
            </a:r>
            <a:r>
              <a:rPr lang="es-MX" dirty="0" err="1"/>
              <a:t>Apigee</a:t>
            </a:r>
            <a:r>
              <a:rPr lang="es-MX" dirty="0"/>
              <a:t> proporciona una abstracción o fachada para tus API de servicio de </a:t>
            </a:r>
            <a:r>
              <a:rPr lang="es-MX" dirty="0" err="1"/>
              <a:t>backend</a:t>
            </a:r>
            <a:r>
              <a:rPr lang="es-MX" dirty="0"/>
              <a:t> y proporciona seguridad, límite de frecuencia, cuotas, estadísticas y mucho más.</a:t>
            </a:r>
            <a:endParaRPr lang="es-CL" dirty="0"/>
          </a:p>
        </p:txBody>
      </p:sp>
      <p:sp>
        <p:nvSpPr>
          <p:cNvPr id="5" name="Marcador de texto 4"/>
          <p:cNvSpPr>
            <a:spLocks noGrp="1"/>
          </p:cNvSpPr>
          <p:nvPr>
            <p:ph type="body" sz="quarter" idx="3"/>
          </p:nvPr>
        </p:nvSpPr>
        <p:spPr/>
        <p:txBody>
          <a:bodyPr/>
          <a:lstStyle/>
          <a:p>
            <a:endParaRPr lang="es-CL"/>
          </a:p>
        </p:txBody>
      </p:sp>
      <p:pic>
        <p:nvPicPr>
          <p:cNvPr id="8" name="Marcador de contenido 7"/>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218238" y="2988676"/>
            <a:ext cx="5392737" cy="2809461"/>
          </a:xfrm>
        </p:spPr>
      </p:pic>
      <p:sp>
        <p:nvSpPr>
          <p:cNvPr id="7" name="Rectángulo 6"/>
          <p:cNvSpPr/>
          <p:nvPr/>
        </p:nvSpPr>
        <p:spPr>
          <a:xfrm>
            <a:off x="887219" y="5982838"/>
            <a:ext cx="6096000" cy="646331"/>
          </a:xfrm>
          <a:prstGeom prst="rect">
            <a:avLst/>
          </a:prstGeom>
        </p:spPr>
        <p:txBody>
          <a:bodyPr>
            <a:spAutoFit/>
          </a:bodyPr>
          <a:lstStyle/>
          <a:p>
            <a:r>
              <a:rPr lang="es-CL" dirty="0"/>
              <a:t>https://cloud.google.com/apigee/docs/api-platform/get-started/what-apigee?hl=es-419</a:t>
            </a:r>
          </a:p>
        </p:txBody>
      </p:sp>
    </p:spTree>
    <p:extLst>
      <p:ext uri="{BB962C8B-B14F-4D97-AF65-F5344CB8AC3E}">
        <p14:creationId xmlns:p14="http://schemas.microsoft.com/office/powerpoint/2010/main" val="2652475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API PROXY</a:t>
            </a:r>
            <a:endParaRPr lang="es-CL" dirty="0"/>
          </a:p>
        </p:txBody>
      </p:sp>
      <p:sp>
        <p:nvSpPr>
          <p:cNvPr id="3" name="Marcador de texto 2"/>
          <p:cNvSpPr>
            <a:spLocks noGrp="1"/>
          </p:cNvSpPr>
          <p:nvPr>
            <p:ph type="body" idx="1"/>
          </p:nvPr>
        </p:nvSpPr>
        <p:spPr/>
        <p:txBody>
          <a:bodyPr/>
          <a:lstStyle/>
          <a:p>
            <a:endParaRPr lang="es-CL"/>
          </a:p>
        </p:txBody>
      </p:sp>
      <p:sp>
        <p:nvSpPr>
          <p:cNvPr id="4" name="Marcador de contenido 3"/>
          <p:cNvSpPr>
            <a:spLocks noGrp="1"/>
          </p:cNvSpPr>
          <p:nvPr>
            <p:ph sz="half" idx="2"/>
          </p:nvPr>
        </p:nvSpPr>
        <p:spPr/>
        <p:txBody>
          <a:bodyPr/>
          <a:lstStyle/>
          <a:p>
            <a:r>
              <a:rPr lang="es-MX" dirty="0"/>
              <a:t>Para exponer las API en </a:t>
            </a:r>
            <a:r>
              <a:rPr lang="es-MX" dirty="0" err="1"/>
              <a:t>Apigee</a:t>
            </a:r>
            <a:r>
              <a:rPr lang="es-MX" dirty="0"/>
              <a:t> </a:t>
            </a:r>
            <a:r>
              <a:rPr lang="es-MX" dirty="0" err="1"/>
              <a:t>Edge</a:t>
            </a:r>
            <a:r>
              <a:rPr lang="es-MX" dirty="0"/>
              <a:t>, debes implementar </a:t>
            </a:r>
            <a:r>
              <a:rPr lang="es-MX" i="1" dirty="0" err="1"/>
              <a:t>proxies</a:t>
            </a:r>
            <a:r>
              <a:rPr lang="es-MX" i="1" dirty="0"/>
              <a:t> de API</a:t>
            </a:r>
            <a:r>
              <a:rPr lang="es-MX" dirty="0"/>
              <a:t>. Los </a:t>
            </a:r>
            <a:r>
              <a:rPr lang="es-MX" dirty="0" err="1"/>
              <a:t>proxies</a:t>
            </a:r>
            <a:r>
              <a:rPr lang="es-MX" dirty="0"/>
              <a:t> de API separan la API orientada a la aplicación de sus servicios de </a:t>
            </a:r>
            <a:r>
              <a:rPr lang="es-MX" dirty="0" err="1"/>
              <a:t>backend</a:t>
            </a:r>
            <a:r>
              <a:rPr lang="es-MX" dirty="0"/>
              <a:t>, lo que protege a esas aplicaciones de los cambios en el código de </a:t>
            </a:r>
            <a:r>
              <a:rPr lang="es-MX" dirty="0" err="1"/>
              <a:t>backend</a:t>
            </a:r>
            <a:r>
              <a:rPr lang="es-MX" dirty="0"/>
              <a:t>. Aunque haga cambios de </a:t>
            </a:r>
            <a:r>
              <a:rPr lang="es-MX" dirty="0" err="1"/>
              <a:t>backend</a:t>
            </a:r>
            <a:r>
              <a:rPr lang="es-MX" dirty="0"/>
              <a:t> en sus servicios, las aplicaciones seguirán llamando a la misma API sin ninguna interrupción.</a:t>
            </a:r>
            <a:endParaRPr lang="es-CL" dirty="0"/>
          </a:p>
        </p:txBody>
      </p:sp>
      <p:sp>
        <p:nvSpPr>
          <p:cNvPr id="5" name="Marcador de texto 4"/>
          <p:cNvSpPr>
            <a:spLocks noGrp="1"/>
          </p:cNvSpPr>
          <p:nvPr>
            <p:ph type="body" sz="quarter" idx="3"/>
          </p:nvPr>
        </p:nvSpPr>
        <p:spPr/>
        <p:txBody>
          <a:bodyPr/>
          <a:lstStyle/>
          <a:p>
            <a:endParaRPr lang="es-CL"/>
          </a:p>
        </p:txBody>
      </p:sp>
      <p:sp>
        <p:nvSpPr>
          <p:cNvPr id="8" name="Rectángulo 7"/>
          <p:cNvSpPr/>
          <p:nvPr/>
        </p:nvSpPr>
        <p:spPr>
          <a:xfrm>
            <a:off x="931768" y="5861051"/>
            <a:ext cx="6096000" cy="923330"/>
          </a:xfrm>
          <a:prstGeom prst="rect">
            <a:avLst/>
          </a:prstGeom>
        </p:spPr>
        <p:txBody>
          <a:bodyPr>
            <a:spAutoFit/>
          </a:bodyPr>
          <a:lstStyle/>
          <a:p>
            <a:r>
              <a:rPr lang="es-CL" dirty="0"/>
              <a:t>https://cloud.google.com/apigee/docs/api-platform/fundamentals/understanding-apis-and-api-proxies?hl=es-419</a:t>
            </a:r>
          </a:p>
        </p:txBody>
      </p:sp>
      <p:pic>
        <p:nvPicPr>
          <p:cNvPr id="10" name="Marcador de contenido 9"/>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433750" y="2925763"/>
            <a:ext cx="4961712" cy="2935287"/>
          </a:xfrm>
        </p:spPr>
      </p:pic>
    </p:spTree>
    <p:extLst>
      <p:ext uri="{BB962C8B-B14F-4D97-AF65-F5344CB8AC3E}">
        <p14:creationId xmlns:p14="http://schemas.microsoft.com/office/powerpoint/2010/main" val="2717839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SHARED FLOW</a:t>
            </a:r>
            <a:endParaRPr lang="es-CL" dirty="0"/>
          </a:p>
        </p:txBody>
      </p:sp>
      <p:sp>
        <p:nvSpPr>
          <p:cNvPr id="4" name="Marcador de contenido 3"/>
          <p:cNvSpPr>
            <a:spLocks noGrp="1"/>
          </p:cNvSpPr>
          <p:nvPr>
            <p:ph sz="half" idx="1"/>
          </p:nvPr>
        </p:nvSpPr>
        <p:spPr/>
        <p:txBody>
          <a:bodyPr/>
          <a:lstStyle/>
          <a:p>
            <a:r>
              <a:rPr lang="es-MX" dirty="0"/>
              <a:t>Combina políticas y recursos en un </a:t>
            </a:r>
            <a:r>
              <a:rPr lang="es-MX" i="1" dirty="0"/>
              <a:t>flujo compartido</a:t>
            </a:r>
            <a:r>
              <a:rPr lang="es-MX" dirty="0"/>
              <a:t> que puedes consumir desde varios </a:t>
            </a:r>
            <a:r>
              <a:rPr lang="es-MX" dirty="0" err="1"/>
              <a:t>proxies</a:t>
            </a:r>
            <a:r>
              <a:rPr lang="es-MX" dirty="0"/>
              <a:t> de API, y también desde otros flujos de uso compartido. Aunque es como un proxy, un flujo compartido no tiene extremo. Solo se puede usar desde un proxy de API o un flujo compartido que se encuentre en la misma organización que el flujo compartido en sí.</a:t>
            </a:r>
            <a:endParaRPr lang="es-CL" dirty="0"/>
          </a:p>
        </p:txBody>
      </p:sp>
      <p:pic>
        <p:nvPicPr>
          <p:cNvPr id="7" name="Marcador de contenido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88075" y="2247846"/>
            <a:ext cx="5422900" cy="3592621"/>
          </a:xfrm>
        </p:spPr>
      </p:pic>
      <p:sp>
        <p:nvSpPr>
          <p:cNvPr id="8" name="Rectángulo 7"/>
          <p:cNvSpPr/>
          <p:nvPr/>
        </p:nvSpPr>
        <p:spPr>
          <a:xfrm>
            <a:off x="581193" y="5861050"/>
            <a:ext cx="6096000" cy="646331"/>
          </a:xfrm>
          <a:prstGeom prst="rect">
            <a:avLst/>
          </a:prstGeom>
        </p:spPr>
        <p:txBody>
          <a:bodyPr>
            <a:spAutoFit/>
          </a:bodyPr>
          <a:lstStyle/>
          <a:p>
            <a:r>
              <a:rPr lang="es-CL" dirty="0"/>
              <a:t>https://cloud.google.com/apigee/docs/api-platform/fundamentals/shared-flows?hl=es-419</a:t>
            </a:r>
          </a:p>
        </p:txBody>
      </p:sp>
    </p:spTree>
    <p:extLst>
      <p:ext uri="{BB962C8B-B14F-4D97-AF65-F5344CB8AC3E}">
        <p14:creationId xmlns:p14="http://schemas.microsoft.com/office/powerpoint/2010/main" val="2290315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ENVIROMENT CONFIGURATION</a:t>
            </a:r>
            <a:endParaRPr lang="es-CL" dirty="0"/>
          </a:p>
        </p:txBody>
      </p:sp>
      <p:pic>
        <p:nvPicPr>
          <p:cNvPr id="7" name="Marcador de contenido 6"/>
          <p:cNvPicPr>
            <a:picLocks noGrp="1" noChangeAspect="1"/>
          </p:cNvPicPr>
          <p:nvPr>
            <p:ph sz="half" idx="1"/>
          </p:nvPr>
        </p:nvPicPr>
        <p:blipFill>
          <a:blip r:embed="rId2"/>
          <a:stretch>
            <a:fillRect/>
          </a:stretch>
        </p:blipFill>
        <p:spPr>
          <a:xfrm>
            <a:off x="581025" y="2533680"/>
            <a:ext cx="5422900" cy="3020952"/>
          </a:xfrm>
          <a:prstGeom prst="rect">
            <a:avLst/>
          </a:prstGeom>
        </p:spPr>
      </p:pic>
      <p:sp>
        <p:nvSpPr>
          <p:cNvPr id="8" name="Marcador de contenido 7"/>
          <p:cNvSpPr>
            <a:spLocks noGrp="1"/>
          </p:cNvSpPr>
          <p:nvPr>
            <p:ph sz="half" idx="2"/>
          </p:nvPr>
        </p:nvSpPr>
        <p:spPr/>
        <p:txBody>
          <a:bodyPr/>
          <a:lstStyle/>
          <a:p>
            <a:r>
              <a:rPr lang="es-MX" dirty="0"/>
              <a:t>Permiten configurar ambientes, grupos de servidores, Certificados, Target, etc.</a:t>
            </a:r>
            <a:endParaRPr lang="es-CL" dirty="0"/>
          </a:p>
        </p:txBody>
      </p:sp>
    </p:spTree>
    <p:extLst>
      <p:ext uri="{BB962C8B-B14F-4D97-AF65-F5344CB8AC3E}">
        <p14:creationId xmlns:p14="http://schemas.microsoft.com/office/powerpoint/2010/main" val="4281402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PRODUCT</a:t>
            </a:r>
            <a:endParaRPr lang="es-CL" dirty="0"/>
          </a:p>
        </p:txBody>
      </p:sp>
      <p:sp>
        <p:nvSpPr>
          <p:cNvPr id="4" name="Marcador de contenido 3"/>
          <p:cNvSpPr>
            <a:spLocks noGrp="1"/>
          </p:cNvSpPr>
          <p:nvPr>
            <p:ph sz="half" idx="1"/>
          </p:nvPr>
        </p:nvSpPr>
        <p:spPr/>
        <p:txBody>
          <a:bodyPr/>
          <a:lstStyle/>
          <a:p>
            <a:r>
              <a:rPr lang="es-MX" dirty="0"/>
              <a:t>Un paquete de </a:t>
            </a:r>
            <a:r>
              <a:rPr lang="es-MX" dirty="0" err="1"/>
              <a:t>proxies</a:t>
            </a:r>
            <a:r>
              <a:rPr lang="es-MX" dirty="0"/>
              <a:t> de API combinado con un plan de servicio. Ese plan de servicio puede especificar límites de acceso en los </a:t>
            </a:r>
            <a:r>
              <a:rPr lang="es-MX" dirty="0" err="1"/>
              <a:t>proxies</a:t>
            </a:r>
            <a:r>
              <a:rPr lang="es-MX" dirty="0"/>
              <a:t> de API, proporcionar seguridad, permitir la supervisión y las estadísticas y proporcionar funciones adicionales.</a:t>
            </a:r>
            <a:endParaRPr lang="es-CL" dirty="0"/>
          </a:p>
        </p:txBody>
      </p:sp>
      <p:pic>
        <p:nvPicPr>
          <p:cNvPr id="9" name="Marcador de contenido 8"/>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88075" y="3047870"/>
            <a:ext cx="5422900" cy="1992572"/>
          </a:xfrm>
        </p:spPr>
      </p:pic>
      <p:sp>
        <p:nvSpPr>
          <p:cNvPr id="7" name="Rectángulo 6"/>
          <p:cNvSpPr/>
          <p:nvPr/>
        </p:nvSpPr>
        <p:spPr>
          <a:xfrm>
            <a:off x="581193" y="5861051"/>
            <a:ext cx="6096000" cy="646331"/>
          </a:xfrm>
          <a:prstGeom prst="rect">
            <a:avLst/>
          </a:prstGeom>
        </p:spPr>
        <p:txBody>
          <a:bodyPr>
            <a:spAutoFit/>
          </a:bodyPr>
          <a:lstStyle/>
          <a:p>
            <a:r>
              <a:rPr lang="es-CL" dirty="0"/>
              <a:t>https://cloud.google.com/apigee/docs/api-platform/fundamentals/organization-structure?hl=es-419</a:t>
            </a:r>
          </a:p>
        </p:txBody>
      </p:sp>
    </p:spTree>
    <p:extLst>
      <p:ext uri="{BB962C8B-B14F-4D97-AF65-F5344CB8AC3E}">
        <p14:creationId xmlns:p14="http://schemas.microsoft.com/office/powerpoint/2010/main" val="1892578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DEVELOP</a:t>
            </a:r>
            <a:endParaRPr lang="es-CL" dirty="0"/>
          </a:p>
        </p:txBody>
      </p:sp>
      <p:sp>
        <p:nvSpPr>
          <p:cNvPr id="4" name="Marcador de contenido 3"/>
          <p:cNvSpPr>
            <a:spLocks noGrp="1"/>
          </p:cNvSpPr>
          <p:nvPr>
            <p:ph sz="half" idx="1"/>
          </p:nvPr>
        </p:nvSpPr>
        <p:spPr/>
        <p:txBody>
          <a:bodyPr/>
          <a:lstStyle/>
          <a:p>
            <a:r>
              <a:rPr lang="es-MX" dirty="0"/>
              <a:t>Una organización contiene uno o más desarrolladores que compilan las apps que consumen las API (ensambladas en productos de API) definidas por la organización. Los desarrolladores consumen API, pero no pueden crear API ni realizar ninguna otra acción en la organización.</a:t>
            </a:r>
            <a:endParaRPr lang="es-CL" dirty="0"/>
          </a:p>
        </p:txBody>
      </p:sp>
      <p:pic>
        <p:nvPicPr>
          <p:cNvPr id="8" name="Marcador de contenido 7"/>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88075" y="3047870"/>
            <a:ext cx="5422900" cy="1992572"/>
          </a:xfrm>
        </p:spPr>
      </p:pic>
      <p:sp>
        <p:nvSpPr>
          <p:cNvPr id="7" name="Rectángulo 6"/>
          <p:cNvSpPr/>
          <p:nvPr/>
        </p:nvSpPr>
        <p:spPr>
          <a:xfrm>
            <a:off x="581193" y="5861051"/>
            <a:ext cx="6096000" cy="646331"/>
          </a:xfrm>
          <a:prstGeom prst="rect">
            <a:avLst/>
          </a:prstGeom>
        </p:spPr>
        <p:txBody>
          <a:bodyPr>
            <a:spAutoFit/>
          </a:bodyPr>
          <a:lstStyle/>
          <a:p>
            <a:r>
              <a:rPr lang="es-CL" dirty="0"/>
              <a:t>https://cloud.google.com/apigee/docs/api-platform/fundamentals/organization-structure?hl=es-419</a:t>
            </a:r>
          </a:p>
        </p:txBody>
      </p:sp>
    </p:spTree>
    <p:extLst>
      <p:ext uri="{BB962C8B-B14F-4D97-AF65-F5344CB8AC3E}">
        <p14:creationId xmlns:p14="http://schemas.microsoft.com/office/powerpoint/2010/main" val="2444389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APP</a:t>
            </a:r>
            <a:endParaRPr lang="es-CL" dirty="0"/>
          </a:p>
        </p:txBody>
      </p:sp>
      <p:sp>
        <p:nvSpPr>
          <p:cNvPr id="4" name="Marcador de contenido 3"/>
          <p:cNvSpPr>
            <a:spLocks noGrp="1"/>
          </p:cNvSpPr>
          <p:nvPr>
            <p:ph sz="half" idx="1"/>
          </p:nvPr>
        </p:nvSpPr>
        <p:spPr/>
        <p:txBody>
          <a:bodyPr/>
          <a:lstStyle/>
          <a:p>
            <a:r>
              <a:rPr lang="es-MX" dirty="0"/>
              <a:t>Los desarrolladores deben registrar sus apps en tu organización. Una app es una representación de la app real del desarrollador que le proporciona una clave de API para pasar cada solicitud a las API.</a:t>
            </a:r>
            <a:endParaRPr lang="es-CL" dirty="0"/>
          </a:p>
        </p:txBody>
      </p:sp>
      <p:pic>
        <p:nvPicPr>
          <p:cNvPr id="8" name="Marcador de contenido 7"/>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88075" y="3047870"/>
            <a:ext cx="5422900" cy="1992572"/>
          </a:xfrm>
        </p:spPr>
      </p:pic>
      <p:sp>
        <p:nvSpPr>
          <p:cNvPr id="9" name="Rectángulo 8"/>
          <p:cNvSpPr/>
          <p:nvPr/>
        </p:nvSpPr>
        <p:spPr>
          <a:xfrm>
            <a:off x="581193" y="5861050"/>
            <a:ext cx="6096000" cy="646331"/>
          </a:xfrm>
          <a:prstGeom prst="rect">
            <a:avLst/>
          </a:prstGeom>
        </p:spPr>
        <p:txBody>
          <a:bodyPr>
            <a:spAutoFit/>
          </a:bodyPr>
          <a:lstStyle/>
          <a:p>
            <a:r>
              <a:rPr lang="es-CL" dirty="0"/>
              <a:t>https://cloud.google.com/apigee/docs/api-platform/fundamentals/organization-structure?hl=es-419</a:t>
            </a:r>
          </a:p>
        </p:txBody>
      </p:sp>
    </p:spTree>
    <p:extLst>
      <p:ext uri="{BB962C8B-B14F-4D97-AF65-F5344CB8AC3E}">
        <p14:creationId xmlns:p14="http://schemas.microsoft.com/office/powerpoint/2010/main" val="3245452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HOLA MUNDO </a:t>
            </a:r>
            <a:endParaRPr lang="es-CL" dirty="0"/>
          </a:p>
        </p:txBody>
      </p:sp>
      <p:sp>
        <p:nvSpPr>
          <p:cNvPr id="3" name="Marcador de texto 2"/>
          <p:cNvSpPr>
            <a:spLocks noGrp="1"/>
          </p:cNvSpPr>
          <p:nvPr>
            <p:ph type="body" idx="1"/>
          </p:nvPr>
        </p:nvSpPr>
        <p:spPr/>
        <p:txBody>
          <a:bodyPr/>
          <a:lstStyle/>
          <a:p>
            <a:endParaRPr lang="es-CL"/>
          </a:p>
        </p:txBody>
      </p:sp>
      <p:sp>
        <p:nvSpPr>
          <p:cNvPr id="4" name="Marcador de contenido 3"/>
          <p:cNvSpPr>
            <a:spLocks noGrp="1"/>
          </p:cNvSpPr>
          <p:nvPr>
            <p:ph sz="half" idx="2"/>
          </p:nvPr>
        </p:nvSpPr>
        <p:spPr/>
        <p:txBody>
          <a:bodyPr/>
          <a:lstStyle/>
          <a:p>
            <a:endParaRPr lang="es-CL"/>
          </a:p>
        </p:txBody>
      </p:sp>
      <p:sp>
        <p:nvSpPr>
          <p:cNvPr id="5" name="Marcador de texto 4"/>
          <p:cNvSpPr>
            <a:spLocks noGrp="1"/>
          </p:cNvSpPr>
          <p:nvPr>
            <p:ph type="body" sz="quarter" idx="3"/>
          </p:nvPr>
        </p:nvSpPr>
        <p:spPr/>
        <p:txBody>
          <a:bodyPr/>
          <a:lstStyle/>
          <a:p>
            <a:endParaRPr lang="es-CL"/>
          </a:p>
        </p:txBody>
      </p:sp>
      <p:sp>
        <p:nvSpPr>
          <p:cNvPr id="6" name="Marcador de contenido 5"/>
          <p:cNvSpPr>
            <a:spLocks noGrp="1"/>
          </p:cNvSpPr>
          <p:nvPr>
            <p:ph sz="quarter" idx="4"/>
          </p:nvPr>
        </p:nvSpPr>
        <p:spPr/>
        <p:txBody>
          <a:bodyPr/>
          <a:lstStyle/>
          <a:p>
            <a:endParaRPr lang="es-CL"/>
          </a:p>
        </p:txBody>
      </p:sp>
    </p:spTree>
    <p:extLst>
      <p:ext uri="{BB962C8B-B14F-4D97-AF65-F5344CB8AC3E}">
        <p14:creationId xmlns:p14="http://schemas.microsoft.com/office/powerpoint/2010/main" val="1752593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á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pic>
        <p:nvPicPr>
          <p:cNvPr id="5" name="Imagen 4" descr="Números digitale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
        <p:nvSpPr>
          <p:cNvPr id="12" name="Rectá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rtlCol="0">
            <a:normAutofit/>
          </a:bodyPr>
          <a:lstStyle/>
          <a:p>
            <a:pPr rtl="0"/>
            <a:r>
              <a:rPr lang="es-ES" dirty="0">
                <a:solidFill>
                  <a:srgbClr val="FFFFFF"/>
                </a:solidFill>
              </a:rPr>
              <a:t>PREGUNTAS</a:t>
            </a:r>
          </a:p>
        </p:txBody>
      </p:sp>
      <p:sp>
        <p:nvSpPr>
          <p:cNvPr id="3" name="Subtítulo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rtlCol="0">
            <a:normAutofit/>
          </a:bodyPr>
          <a:lstStyle/>
          <a:p>
            <a:pPr rtl="0"/>
            <a:r>
              <a:rPr lang="es-ES" dirty="0">
                <a:solidFill>
                  <a:schemeClr val="bg2"/>
                </a:solidFill>
              </a:rPr>
              <a:t>Juan.Ramirez@sociuschile.cl</a:t>
            </a:r>
          </a:p>
          <a:p>
            <a:pPr rtl="0"/>
            <a:endParaRPr lang="es-ES" dirty="0">
              <a:solidFill>
                <a:schemeClr val="bg2"/>
              </a:solidFill>
            </a:endParaRPr>
          </a:p>
          <a:p>
            <a:pPr rtl="0"/>
            <a:endParaRPr lang="es-ES" dirty="0">
              <a:solidFill>
                <a:schemeClr val="bg2"/>
              </a:solidFill>
            </a:endParaRPr>
          </a:p>
        </p:txBody>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á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16" name="Rectá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17" name="Rectá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gr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69AFF4-BB30-4BA0-AD22-82CC3C4327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BC12AA-1C15-4500-BC9C-8EE83A441DE9}">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A0CF3B2-1F0F-4FC5-8002-3E4869ABAD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Diseño Dividendo para tecnología</Template>
  <TotalTime>0</TotalTime>
  <Words>1258</Words>
  <Application>Microsoft Office PowerPoint</Application>
  <PresentationFormat>Panorámica</PresentationFormat>
  <Paragraphs>77</Paragraphs>
  <Slides>19</Slides>
  <Notes>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Calibri</vt:lpstr>
      <vt:lpstr>Gill Sans MT</vt:lpstr>
      <vt:lpstr>Wingdings 2</vt:lpstr>
      <vt:lpstr>Dividendo</vt:lpstr>
      <vt:lpstr>TALLER APIGEE</vt:lpstr>
      <vt:lpstr>OBJETIVOS</vt:lpstr>
      <vt:lpstr>¿Qué es la integración de Servicios?</vt:lpstr>
      <vt:lpstr>¿Qué es una API?</vt:lpstr>
      <vt:lpstr>¿Qué significa API?</vt:lpstr>
      <vt:lpstr>API Rest</vt:lpstr>
      <vt:lpstr>API REST</vt:lpstr>
      <vt:lpstr>Estructuras de datos</vt:lpstr>
      <vt:lpstr>Estructuras de datos</vt:lpstr>
      <vt:lpstr>ESTRUCTURAs DE DATOS</vt:lpstr>
      <vt:lpstr>API MANAGEMENT APIGEE</vt:lpstr>
      <vt:lpstr>API PROXY</vt:lpstr>
      <vt:lpstr>SHARED FLOW</vt:lpstr>
      <vt:lpstr>ENVIROMENT CONFIGURATION</vt:lpstr>
      <vt:lpstr>PRODUCT</vt:lpstr>
      <vt:lpstr>DEVELOP</vt:lpstr>
      <vt:lpstr>APP</vt:lpstr>
      <vt:lpstr>HOLA MUNDO </vt:lpstr>
      <vt:lpstr>PREGUNTAS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Javier Andres Larrañaga Guerrero</cp:lastModifiedBy>
  <cp:revision>2</cp:revision>
  <dcterms:created xsi:type="dcterms:W3CDTF">2023-11-06T15:04:28Z</dcterms:created>
  <dcterms:modified xsi:type="dcterms:W3CDTF">2026-02-26T17:45:31Z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